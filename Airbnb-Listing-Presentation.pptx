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12080" y="0"/>
            <a:ext cx="6979615" cy="6858000"/>
          </a:xfrm>
          <a:prstGeom prst="roundRect">
            <a:avLst>
              <a:gd name="adj" fmla="val 0"/>
            </a:avLst>
          </a:prstGeom>
          <a:solidFill>
            <a:srgbClr val="33333A"/>
          </a:solidFill>
          <a:ln w="1587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80" y="0"/>
            <a:ext cx="6979615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8A8A95"/>
                </a:solidFill>
                <a:latin typeface="Arial"/>
              </a:rPr>
              <a:t>📷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8A95"/>
                </a:solidFill>
                <a:latin typeface="Arial"/>
              </a:rPr>
              <a:t>Replace with a stunning wide photo of your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86868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★ SUPERHOST STAY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297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[ Your Property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5A5F"/>
                </a:solidFill>
                <a:latin typeface="Arial"/>
              </a:rPr>
              <a:t>Name 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FCFD6"/>
                </a:solidFill>
                <a:latin typeface="Arial"/>
              </a:rPr>
              <a:t>A cosy, fully-equipped home away from home.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4297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📍  [ Area, City 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CFCFD6"/>
                </a:solidFill>
                <a:latin typeface="Arial"/>
              </a:rPr>
              <a:t>🛏️  [ 1BHK ] · sleeps [ 4 ] · [ 1 ] bath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FF5A5F"/>
                </a:solidFill>
                <a:latin typeface="Arial"/>
              </a:rPr>
              <a:t>₹3,000 / night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95"/>
                </a:solidFill>
                <a:latin typeface="Arial"/>
              </a:rPr>
              <a:t>Hosted by Akhilesh &amp; Priya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Welcome to your home away from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5A5F"/>
                </a:solidFill>
                <a:latin typeface="Arial"/>
              </a:rPr>
              <a:t>ABOUT THE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5486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4A4A52"/>
                </a:solidFill>
                <a:latin typeface="Arial"/>
              </a:rPr>
              <a:t>[ Describe your place in 2–3 warm sentences. e.g. Nestled in a quiet, green neighbourhood, our bright apartment is perfect for couples, families and business travellers looking for comfort and convenience. ]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800" b="0" i="0">
                <a:solidFill>
                  <a:srgbClr val="4A4A52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226"/>
                </a:solidFill>
                <a:latin typeface="Arial"/>
              </a:rPr>
              <a:t>✓  Spotlessly clean &amp; freshly sanitised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226"/>
                </a:solidFill>
                <a:latin typeface="Arial"/>
              </a:rPr>
              <a:t>✓  Fully furnished with modern comforts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226"/>
                </a:solidFill>
                <a:latin typeface="Arial"/>
              </a:rPr>
              <a:t>✓  Self check-in with smart lock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226"/>
                </a:solidFill>
                <a:latin typeface="Arial"/>
              </a:rPr>
              <a:t>✓  Local hosts, always a message away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920240"/>
            <a:ext cx="4663440" cy="4206240"/>
          </a:xfrm>
          <a:prstGeom prst="roundRect">
            <a:avLst>
              <a:gd name="adj" fmla="val 6000"/>
            </a:avLst>
          </a:prstGeom>
          <a:solidFill>
            <a:srgbClr val="ECE8E3"/>
          </a:solidFill>
          <a:ln w="1587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920240"/>
            <a:ext cx="466344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8A8A95"/>
                </a:solidFill>
                <a:latin typeface="Arial"/>
              </a:rPr>
              <a:t>📷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8A95"/>
                </a:solidFill>
                <a:latin typeface="Arial"/>
              </a:rPr>
              <a:t>Add a bright living-room / hero photo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5A5F"/>
                </a:solidFill>
                <a:latin typeface="Arial"/>
              </a:rPr>
              <a:t>LOCATION &amp; ADDRESS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22226"/>
                </a:solidFill>
                <a:latin typeface="Arial"/>
              </a:rPr>
              <a:t>Perfectly placed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4846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94560"/>
            <a:ext cx="4297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5A5F"/>
                </a:solidFill>
                <a:latin typeface="Arial"/>
              </a:rPr>
              <a:t>📍  Address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22226"/>
                </a:solidFill>
                <a:latin typeface="Arial"/>
              </a:rPr>
              <a:t>[ Flat / house no., building 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4A4A52"/>
                </a:solidFill>
                <a:latin typeface="Arial"/>
              </a:rPr>
              <a:t>[ Street, locality 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4A4A52"/>
                </a:solidFill>
                <a:latin typeface="Arial"/>
              </a:rPr>
              <a:t>[ City, State – PIN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77639"/>
            <a:ext cx="4846320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224528"/>
            <a:ext cx="42976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5A5F"/>
                </a:solidFill>
                <a:latin typeface="Arial"/>
              </a:rPr>
              <a:t>What's nearby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4A4A52"/>
                </a:solidFill>
                <a:latin typeface="Arial"/>
              </a:rPr>
              <a:t>🚇  Metro / bus stop — [ 5 min 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4A4A52"/>
                </a:solidFill>
                <a:latin typeface="Arial"/>
              </a:rPr>
              <a:t>✈️  Airport — [ 30 min 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4A4A52"/>
                </a:solidFill>
                <a:latin typeface="Arial"/>
              </a:rPr>
              <a:t>🍽️  Cafes &amp; restaurants — [ walkable 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4A4A52"/>
                </a:solidFill>
                <a:latin typeface="Arial"/>
              </a:rPr>
              <a:t>🛍️  Mall / market — [ 10 min 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4A4A52"/>
                </a:solidFill>
                <a:latin typeface="Arial"/>
              </a:rPr>
              <a:t>🏛️  Key attractions — [ list 1–2 ]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920240"/>
            <a:ext cx="5440680" cy="4297680"/>
          </a:xfrm>
          <a:prstGeom prst="roundRect">
            <a:avLst>
              <a:gd name="adj" fmla="val 6000"/>
            </a:avLst>
          </a:prstGeom>
          <a:solidFill>
            <a:srgbClr val="ECE8E3"/>
          </a:solidFill>
          <a:ln w="1587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920240"/>
            <a:ext cx="5440680" cy="429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8A8A95"/>
                </a:solidFill>
                <a:latin typeface="Arial"/>
              </a:rPr>
              <a:t>📷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8A95"/>
                </a:solidFill>
                <a:latin typeface="Arial"/>
              </a:rPr>
              <a:t>Add a map screenshot / pin of your 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5A5F"/>
                </a:solidFill>
                <a:latin typeface="Arial"/>
              </a:rPr>
              <a:t>FACILITIES &amp; AMENITIES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Everything you need for a great stay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2430703" cy="1078992"/>
          </a:xfrm>
          <a:prstGeom prst="roundRect">
            <a:avLst>
              <a:gd name="adj" fmla="val 14000"/>
            </a:avLst>
          </a:prstGeom>
          <a:solidFill>
            <a:srgbClr val="2E2E36"/>
          </a:solidFill>
          <a:ln w="12700">
            <a:solidFill>
              <a:srgbClr val="3C3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84831"/>
            <a:ext cx="2430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5A5F"/>
                </a:solidFill>
                <a:latin typeface="Arial"/>
              </a:rPr>
              <a:t>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9464"/>
            <a:ext cx="2430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High-speed WiFi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7983" y="1965960"/>
            <a:ext cx="2430703" cy="1078992"/>
          </a:xfrm>
          <a:prstGeom prst="roundRect">
            <a:avLst>
              <a:gd name="adj" fmla="val 14000"/>
            </a:avLst>
          </a:prstGeom>
          <a:solidFill>
            <a:srgbClr val="2E2E36"/>
          </a:solidFill>
          <a:ln w="12700">
            <a:solidFill>
              <a:srgbClr val="3C3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7983" y="2084831"/>
            <a:ext cx="2430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5A5F"/>
                </a:solidFill>
                <a:latin typeface="Arial"/>
              </a:rPr>
              <a:t>❄️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7983" y="2569464"/>
            <a:ext cx="2430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Air conditioning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65960"/>
            <a:ext cx="2430703" cy="1078992"/>
          </a:xfrm>
          <a:prstGeom prst="roundRect">
            <a:avLst>
              <a:gd name="adj" fmla="val 14000"/>
            </a:avLst>
          </a:prstGeom>
          <a:solidFill>
            <a:srgbClr val="2E2E36"/>
          </a:solidFill>
          <a:ln w="12700">
            <a:solidFill>
              <a:srgbClr val="3C3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7" y="2084831"/>
            <a:ext cx="2430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5A5F"/>
                </a:solidFill>
                <a:latin typeface="Arial"/>
              </a:rPr>
              <a:t>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2569464"/>
            <a:ext cx="2430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Equipped kitchen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8031" y="1965960"/>
            <a:ext cx="2430703" cy="1078992"/>
          </a:xfrm>
          <a:prstGeom prst="roundRect">
            <a:avLst>
              <a:gd name="adj" fmla="val 14000"/>
            </a:avLst>
          </a:prstGeom>
          <a:solidFill>
            <a:srgbClr val="2E2E36"/>
          </a:solidFill>
          <a:ln w="12700">
            <a:solidFill>
              <a:srgbClr val="3C3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8031" y="2084831"/>
            <a:ext cx="2430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5A5F"/>
                </a:solidFill>
                <a:latin typeface="Arial"/>
              </a:rPr>
              <a:t>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8031" y="2569464"/>
            <a:ext cx="2430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Free parking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00984"/>
            <a:ext cx="2430703" cy="1078992"/>
          </a:xfrm>
          <a:prstGeom prst="roundRect">
            <a:avLst>
              <a:gd name="adj" fmla="val 14000"/>
            </a:avLst>
          </a:prstGeom>
          <a:solidFill>
            <a:srgbClr val="2E2E36"/>
          </a:solidFill>
          <a:ln w="12700">
            <a:solidFill>
              <a:srgbClr val="3C3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19856"/>
            <a:ext cx="2430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5A5F"/>
                </a:solidFill>
                <a:latin typeface="Arial"/>
              </a:rPr>
              <a:t>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04487"/>
            <a:ext cx="2430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Smart TV / Netflix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7983" y="3300984"/>
            <a:ext cx="2430703" cy="1078992"/>
          </a:xfrm>
          <a:prstGeom prst="roundRect">
            <a:avLst>
              <a:gd name="adj" fmla="val 14000"/>
            </a:avLst>
          </a:prstGeom>
          <a:solidFill>
            <a:srgbClr val="2E2E36"/>
          </a:solidFill>
          <a:ln w="12700">
            <a:solidFill>
              <a:srgbClr val="3C3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7983" y="3419856"/>
            <a:ext cx="2430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5A5F"/>
                </a:solidFill>
                <a:latin typeface="Arial"/>
              </a:rPr>
              <a:t>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983" y="3904487"/>
            <a:ext cx="2430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Washing machine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300984"/>
            <a:ext cx="2430703" cy="1078992"/>
          </a:xfrm>
          <a:prstGeom prst="roundRect">
            <a:avLst>
              <a:gd name="adj" fmla="val 14000"/>
            </a:avLst>
          </a:prstGeom>
          <a:solidFill>
            <a:srgbClr val="2E2E36"/>
          </a:solidFill>
          <a:ln w="12700">
            <a:solidFill>
              <a:srgbClr val="3C3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3007" y="3419856"/>
            <a:ext cx="2430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5A5F"/>
                </a:solidFill>
                <a:latin typeface="Arial"/>
              </a:rPr>
              <a:t>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3007" y="3904487"/>
            <a:ext cx="2430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Hot water / geyser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38031" y="3300984"/>
            <a:ext cx="2430703" cy="1078992"/>
          </a:xfrm>
          <a:prstGeom prst="roundRect">
            <a:avLst>
              <a:gd name="adj" fmla="val 14000"/>
            </a:avLst>
          </a:prstGeom>
          <a:solidFill>
            <a:srgbClr val="2E2E36"/>
          </a:solidFill>
          <a:ln w="12700">
            <a:solidFill>
              <a:srgbClr val="3C3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38031" y="3419856"/>
            <a:ext cx="2430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5A5F"/>
                </a:solidFill>
                <a:latin typeface="Arial"/>
              </a:rPr>
              <a:t>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031" y="3904487"/>
            <a:ext cx="2430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Power backup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636008"/>
            <a:ext cx="2430703" cy="1078992"/>
          </a:xfrm>
          <a:prstGeom prst="roundRect">
            <a:avLst>
              <a:gd name="adj" fmla="val 14000"/>
            </a:avLst>
          </a:prstGeom>
          <a:solidFill>
            <a:srgbClr val="2E2E36"/>
          </a:solidFill>
          <a:ln w="12700">
            <a:solidFill>
              <a:srgbClr val="3C3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754880"/>
            <a:ext cx="2430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5A5F"/>
                </a:solidFill>
                <a:latin typeface="Arial"/>
              </a:rPr>
              <a:t>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239512"/>
            <a:ext cx="2430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Housekeeping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7983" y="4636008"/>
            <a:ext cx="2430703" cy="1078992"/>
          </a:xfrm>
          <a:prstGeom prst="roundRect">
            <a:avLst>
              <a:gd name="adj" fmla="val 14000"/>
            </a:avLst>
          </a:prstGeom>
          <a:solidFill>
            <a:srgbClr val="2E2E36"/>
          </a:solidFill>
          <a:ln w="12700">
            <a:solidFill>
              <a:srgbClr val="3C3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7983" y="4754880"/>
            <a:ext cx="2430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5A5F"/>
                </a:solidFill>
                <a:latin typeface="Arial"/>
              </a:rPr>
              <a:t>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7983" y="5239512"/>
            <a:ext cx="2430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Self check-in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007" y="4636008"/>
            <a:ext cx="2430703" cy="1078992"/>
          </a:xfrm>
          <a:prstGeom prst="roundRect">
            <a:avLst>
              <a:gd name="adj" fmla="val 14000"/>
            </a:avLst>
          </a:prstGeom>
          <a:solidFill>
            <a:srgbClr val="2E2E36"/>
          </a:solidFill>
          <a:ln w="12700">
            <a:solidFill>
              <a:srgbClr val="3C3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3007" y="4754880"/>
            <a:ext cx="2430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5A5F"/>
                </a:solidFill>
                <a:latin typeface="Arial"/>
              </a:rPr>
              <a:t>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3007" y="5239512"/>
            <a:ext cx="2430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Work desk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38031" y="4636008"/>
            <a:ext cx="2430703" cy="1078992"/>
          </a:xfrm>
          <a:prstGeom prst="roundRect">
            <a:avLst>
              <a:gd name="adj" fmla="val 14000"/>
            </a:avLst>
          </a:prstGeom>
          <a:solidFill>
            <a:srgbClr val="2E2E36"/>
          </a:solidFill>
          <a:ln w="12700">
            <a:solidFill>
              <a:srgbClr val="3C3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38031" y="4754880"/>
            <a:ext cx="2430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5A5F"/>
                </a:solidFill>
                <a:latin typeface="Arial"/>
              </a:rPr>
              <a:t>🛡️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8031" y="5239512"/>
            <a:ext cx="2430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24×7 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355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A8A95"/>
                </a:solidFill>
                <a:latin typeface="Arial"/>
              </a:rPr>
              <a:t>+ add your own: balcony, pool, pet-friendly, EV charging…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5A5F"/>
                </a:solidFill>
                <a:latin typeface="Arial"/>
              </a:rPr>
              <a:t>WHY CHOOSE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Why guests love staying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271418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30552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5A5F"/>
                </a:solidFill>
                <a:latin typeface="Arial"/>
              </a:rPr>
              <a:t>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15768"/>
            <a:ext cx="27227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22226"/>
                </a:solidFill>
                <a:latin typeface="Arial"/>
              </a:rPr>
              <a:t>Top-rated cleanliness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99815"/>
            <a:ext cx="27227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A52"/>
                </a:solidFill>
                <a:latin typeface="Arial"/>
              </a:rPr>
              <a:t>Deep-cleaned and sanitised before every check-in — guests notice the difference.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0138" y="1874519"/>
            <a:ext cx="3271418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4458" y="2130552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5A5F"/>
                </a:solidFill>
                <a:latin typeface="Arial"/>
              </a:rPr>
              <a:t>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4458" y="2715768"/>
            <a:ext cx="27227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22226"/>
                </a:solidFill>
                <a:latin typeface="Arial"/>
              </a:rPr>
              <a:t>Prime 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4458" y="3099815"/>
            <a:ext cx="27227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A52"/>
                </a:solidFill>
                <a:latin typeface="Arial"/>
              </a:rPr>
              <a:t>Close to transport, food and the city's best spots, in a safe neighbourhood.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874519"/>
            <a:ext cx="3271418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1636" y="2130552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5A5F"/>
                </a:solidFill>
                <a:latin typeface="Arial"/>
              </a:rP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1636" y="2715768"/>
            <a:ext cx="27227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22226"/>
                </a:solidFill>
                <a:latin typeface="Arial"/>
              </a:rPr>
              <a:t>Responsive hosts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1636" y="3099815"/>
            <a:ext cx="27227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A52"/>
                </a:solidFill>
                <a:latin typeface="Arial"/>
              </a:rPr>
              <a:t>Akhilesh &amp; Priya reply fast and help with anything, before and during your stay.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06240"/>
            <a:ext cx="3271418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62272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5A5F"/>
                </a:solidFill>
                <a:latin typeface="Arial"/>
              </a:rPr>
              <a:t>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47488"/>
            <a:ext cx="27227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22226"/>
                </a:solidFill>
                <a:latin typeface="Arial"/>
              </a:rPr>
              <a:t>Great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431536"/>
            <a:ext cx="27227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A52"/>
                </a:solidFill>
                <a:latin typeface="Arial"/>
              </a:rPr>
              <a:t>Honest pricing with no hidden fees — comfort and quality for what you pay.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0138" y="4206240"/>
            <a:ext cx="3271418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4458" y="4462272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5A5F"/>
                </a:solidFill>
                <a:latin typeface="Arial"/>
              </a:rPr>
              <a:t>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4458" y="5047488"/>
            <a:ext cx="27227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22226"/>
                </a:solidFill>
                <a:latin typeface="Arial"/>
              </a:rPr>
              <a:t>Effortless check-in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4458" y="5431536"/>
            <a:ext cx="27227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A52"/>
                </a:solidFill>
                <a:latin typeface="Arial"/>
              </a:rPr>
              <a:t>Flexible, contactless self check-in that fits your travel schedule.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7316" y="4206240"/>
            <a:ext cx="3271418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1636" y="4462272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5A5F"/>
                </a:solidFill>
                <a:latin typeface="Arial"/>
              </a:rPr>
              <a:t>🛏️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1636" y="5047488"/>
            <a:ext cx="27227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22226"/>
                </a:solidFill>
                <a:latin typeface="Arial"/>
              </a:rPr>
              <a:t>Truly comfortable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1636" y="5431536"/>
            <a:ext cx="27227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A52"/>
                </a:solidFill>
                <a:latin typeface="Arial"/>
              </a:rPr>
              <a:t>Quality bedding, fast WiFi and a fully-equipped kitchen for a homely stay.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5A5F"/>
                </a:solidFill>
                <a:latin typeface="Arial"/>
              </a:rPr>
              <a:t>GALLERY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22226"/>
                </a:solidFill>
                <a:latin typeface="Arial"/>
              </a:rPr>
              <a:t>Take a look inside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301898" cy="2148840"/>
          </a:xfrm>
          <a:prstGeom prst="roundRect">
            <a:avLst>
              <a:gd name="adj" fmla="val 6000"/>
            </a:avLst>
          </a:prstGeom>
          <a:solidFill>
            <a:srgbClr val="ECE8E3"/>
          </a:solidFill>
          <a:ln w="1587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301898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8A8A95"/>
                </a:solidFill>
                <a:latin typeface="Arial"/>
              </a:rPr>
              <a:t>📷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8A95"/>
                </a:solidFill>
                <a:latin typeface="Arial"/>
              </a:rPr>
              <a:t>Add: Living room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4898" y="1828800"/>
            <a:ext cx="3301898" cy="2148840"/>
          </a:xfrm>
          <a:prstGeom prst="roundRect">
            <a:avLst>
              <a:gd name="adj" fmla="val 6000"/>
            </a:avLst>
          </a:prstGeom>
          <a:solidFill>
            <a:srgbClr val="ECE8E3"/>
          </a:solidFill>
          <a:ln w="1587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44898" y="1828800"/>
            <a:ext cx="3301898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8A8A95"/>
                </a:solidFill>
                <a:latin typeface="Arial"/>
              </a:rPr>
              <a:t>📷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8A95"/>
                </a:solidFill>
                <a:latin typeface="Arial"/>
              </a:rPr>
              <a:t>Add: Bedroom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828800"/>
            <a:ext cx="3301898" cy="2148840"/>
          </a:xfrm>
          <a:prstGeom prst="roundRect">
            <a:avLst>
              <a:gd name="adj" fmla="val 6000"/>
            </a:avLst>
          </a:prstGeom>
          <a:solidFill>
            <a:srgbClr val="ECE8E3"/>
          </a:solidFill>
          <a:ln w="1587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6836" y="1828800"/>
            <a:ext cx="3301898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8A8A95"/>
                </a:solidFill>
                <a:latin typeface="Arial"/>
              </a:rPr>
              <a:t>📷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8A95"/>
                </a:solidFill>
                <a:latin typeface="Arial"/>
              </a:rPr>
              <a:t>Add: Kitchen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51960"/>
            <a:ext cx="3301898" cy="2148840"/>
          </a:xfrm>
          <a:prstGeom prst="roundRect">
            <a:avLst>
              <a:gd name="adj" fmla="val 6000"/>
            </a:avLst>
          </a:prstGeom>
          <a:solidFill>
            <a:srgbClr val="ECE8E3"/>
          </a:solidFill>
          <a:ln w="1587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3301898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8A8A95"/>
                </a:solidFill>
                <a:latin typeface="Arial"/>
              </a:rPr>
              <a:t>📷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8A95"/>
                </a:solidFill>
                <a:latin typeface="Arial"/>
              </a:rPr>
              <a:t>Add: Bathroom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4898" y="4251960"/>
            <a:ext cx="3301898" cy="2148840"/>
          </a:xfrm>
          <a:prstGeom prst="roundRect">
            <a:avLst>
              <a:gd name="adj" fmla="val 6000"/>
            </a:avLst>
          </a:prstGeom>
          <a:solidFill>
            <a:srgbClr val="ECE8E3"/>
          </a:solidFill>
          <a:ln w="1587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4898" y="4251960"/>
            <a:ext cx="3301898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8A8A95"/>
                </a:solidFill>
                <a:latin typeface="Arial"/>
              </a:rPr>
              <a:t>📷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8A95"/>
                </a:solidFill>
                <a:latin typeface="Arial"/>
              </a:rPr>
              <a:t>Add: Balcony / 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4251960"/>
            <a:ext cx="3301898" cy="2148840"/>
          </a:xfrm>
          <a:prstGeom prst="roundRect">
            <a:avLst>
              <a:gd name="adj" fmla="val 6000"/>
            </a:avLst>
          </a:prstGeom>
          <a:solidFill>
            <a:srgbClr val="ECE8E3"/>
          </a:solidFill>
          <a:ln w="1587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6836" y="4251960"/>
            <a:ext cx="3301898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8A8A95"/>
                </a:solidFill>
                <a:latin typeface="Arial"/>
              </a:rPr>
              <a:t>📷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8A95"/>
                </a:solidFill>
                <a:latin typeface="Arial"/>
              </a:rPr>
              <a:t>Add: Workspace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5A5F"/>
                </a:solidFill>
                <a:latin typeface="Arial"/>
              </a:rPr>
              <a:t>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Simple, honest pricing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4937760" cy="4023360"/>
          </a:xfrm>
          <a:prstGeom prst="roundRect">
            <a:avLst>
              <a:gd name="adj" fmla="val 6000"/>
            </a:avLst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4297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E0E1"/>
                </a:solidFill>
                <a:latin typeface="Arial"/>
              </a:rPr>
              <a:t>FROM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Arial"/>
              </a:rPr>
              <a:t>₹3,000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E0E1"/>
                </a:solidFill>
                <a:latin typeface="Arial"/>
              </a:rPr>
              <a:t>per night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60520"/>
            <a:ext cx="4297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✓  Weekly &amp; monthly discounts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✓  No hidden charges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✓  Flexible cancellation [ edit 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✓  Security deposit: [ ₹____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5349240" cy="4023360"/>
          </a:xfrm>
          <a:prstGeom prst="roundRect">
            <a:avLst>
              <a:gd name="adj" fmla="val 6000"/>
            </a:avLst>
          </a:prstGeom>
          <a:solidFill>
            <a:srgbClr val="2E2E36"/>
          </a:solidFill>
          <a:ln w="12700">
            <a:solidFill>
              <a:srgbClr val="3C3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46634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What's included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D7D7DE"/>
                </a:solidFill>
                <a:latin typeface="Arial"/>
              </a:rPr>
              <a:t>🛏️  Fresh linen &amp; towels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D7D7DE"/>
                </a:solidFill>
                <a:latin typeface="Arial"/>
              </a:rPr>
              <a:t>🧴  Toiletries &amp; essentials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D7D7DE"/>
                </a:solidFill>
                <a:latin typeface="Arial"/>
              </a:rPr>
              <a:t>☕  Tea / coffee &amp; basics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D7D7DE"/>
                </a:solidFill>
                <a:latin typeface="Arial"/>
              </a:rPr>
              <a:t>📶  Unlimited high-speed WiFi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D7D7DE"/>
                </a:solidFill>
                <a:latin typeface="Arial"/>
              </a:rPr>
              <a:t>🚗  Free parking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D7D7DE"/>
                </a:solidFill>
                <a:latin typeface="Arial"/>
              </a:rPr>
              <a:t>🧹  Pre-arrival deep clean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5A5F"/>
                </a:solidFill>
                <a:latin typeface="Arial"/>
              </a:rPr>
              <a:t>GUEST REVIEWS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22226"/>
                </a:solidFill>
                <a:latin typeface="Arial"/>
              </a:rPr>
              <a:t>Loved by our guests  </a:t>
            </a:r>
            <a:r>
              <a:rPr sz="3000" b="1" i="0">
                <a:solidFill>
                  <a:srgbClr val="FF5A5F"/>
                </a:solidFill>
                <a:latin typeface="Arial"/>
              </a:rPr>
              <a:t>★ 4.9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327141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2423160"/>
            <a:ext cx="26862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5A5F"/>
                </a:solidFill>
                <a:latin typeface="Arial"/>
              </a:rPr>
              <a:t>★★★★★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971800"/>
            <a:ext cx="268620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222226"/>
                </a:solidFill>
                <a:latin typeface="Arial"/>
              </a:rPr>
              <a:t>“Spotless, super comfortable and exactly as shown. The hosts were so helpful!”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4389120"/>
            <a:ext cx="26862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8A95"/>
                </a:solidFill>
                <a:latin typeface="Arial"/>
              </a:rPr>
              <a:t>— [ Guest name ], [ city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0138" y="2148840"/>
            <a:ext cx="327141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2746" y="2423160"/>
            <a:ext cx="26862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5A5F"/>
                </a:solidFill>
                <a:latin typeface="Arial"/>
              </a:rPr>
              <a:t>★★★★★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2746" y="2971800"/>
            <a:ext cx="268620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222226"/>
                </a:solidFill>
                <a:latin typeface="Arial"/>
              </a:rPr>
              <a:t>“Great location and a smooth check-in. Would absolutely stay again.”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2746" y="4389120"/>
            <a:ext cx="26862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8A95"/>
                </a:solidFill>
                <a:latin typeface="Arial"/>
              </a:rPr>
              <a:t>— [ Guest name ], [ city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6" y="2148840"/>
            <a:ext cx="327141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9924" y="2423160"/>
            <a:ext cx="26862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5A5F"/>
                </a:solidFill>
                <a:latin typeface="Arial"/>
              </a:rPr>
              <a:t>★★★★★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9924" y="2971800"/>
            <a:ext cx="268620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222226"/>
                </a:solidFill>
                <a:latin typeface="Arial"/>
              </a:rPr>
              <a:t>“Felt just like home. Fast WiFi, clean kitchen, lovely neighbourhood.”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9924" y="4389120"/>
            <a:ext cx="26862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8A95"/>
                </a:solidFill>
                <a:latin typeface="Arial"/>
              </a:rPr>
              <a:t>— [ Guest name ], [ city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8A8A95"/>
                </a:solidFill>
                <a:latin typeface="Arial"/>
              </a:rPr>
              <a:t>Tip: paste your best real Airbnb reviews here to build trust.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0"/>
            <a:ext cx="5790895" cy="6858000"/>
          </a:xfrm>
          <a:prstGeom prst="roundRect">
            <a:avLst>
              <a:gd name="adj" fmla="val 0"/>
            </a:avLst>
          </a:prstGeom>
          <a:solidFill>
            <a:srgbClr val="33333A"/>
          </a:solidFill>
          <a:ln w="1587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8A8A95"/>
                </a:solidFill>
                <a:latin typeface="Arial"/>
              </a:rPr>
              <a:t>📷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8A95"/>
                </a:solidFill>
                <a:latin typeface="Arial"/>
              </a:rPr>
              <a:t>Add a warm, inviting photo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0058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BOOK YOUR STAY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Come stay with 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FCFD6"/>
                </a:solidFill>
                <a:latin typeface="Arial"/>
              </a:rPr>
              <a:t>We can't wait to host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5A5F"/>
                </a:solidFill>
                <a:latin typeface="Arial"/>
              </a:rPr>
              <a:t>📱  WhatsApp / Call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[ +91  XXXXX XXXXX 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6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5A5F"/>
                </a:solidFill>
                <a:latin typeface="Arial"/>
              </a:rPr>
              <a:t>✉️  Email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[ your@email.com 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6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5A5F"/>
                </a:solidFill>
                <a:latin typeface="Arial"/>
              </a:rPr>
              <a:t>🔗  Book on Airbnb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[ paste your Airbnb listing link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95"/>
                </a:solidFill>
                <a:latin typeface="Arial"/>
              </a:rPr>
              <a:t>Hosted with care by Akhilesh &amp; Priya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